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AUTOMATION TESTING WITH CUCUMBER BDD, SELENIUM &amp; TESTNG FOR ABHIBUS.COM</a:t>
            </a:r>
          </a:p>
          <a:p>
            <a:pPr>
              <a:spcAft>
                <a:spcPts val="2800"/>
              </a:spcAft>
              <a:defRPr sz="1600">
                <a:solidFill>
                  <a:srgbClr val="B4BECD"/>
                </a:solidFill>
                <a:latin typeface="Segoe UI"/>
              </a:defRPr>
            </a:pPr>
            <a:r>
              <a:t>Enterprise-Grade Page Object Model (POM) Web Automation Framework</a:t>
            </a:r>
          </a:p>
          <a:p>
            <a:pPr>
              <a:defRPr sz="1400" b="1">
                <a:solidFill>
                  <a:srgbClr val="FF7E00"/>
                </a:solidFill>
                <a:latin typeface="Segoe UI"/>
              </a:defRPr>
            </a:pPr>
            <a:r>
              <a:t>Presented by Uttam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7E00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AUTOMATION TESTING WITH CUCUMBER JAVA &amp; TESTNG FOR ABHIBUS.COM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01 / OBJECTIVE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Efficiency &amp; Coverage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Focuses on automating critical bus search flows on Abhibus.com to maximize test speed and regression coverage.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Eliminates manual effort by simulating end-to-end user actions across different browsers dynamically.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02 / FRAMEWORK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Selenium WebDriver &amp; Java for browser control.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Cucumber BDD for Gherkin features.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TestNG for configuration and execution.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Log4j2 for comprehensive execution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03 / REPORTING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Reporting &amp;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Cucumber HTML &amp; JSON reporting for test summaries.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Automatic screenshot capture on scenario success to verify visual elements.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Allure report integration for rich, interactive test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7E00"/>
                </a:solidFill>
                <a:latin typeface="Segoe UI"/>
              </a:defRPr>
            </a:pPr>
            <a:r>
              <a:t>SETUP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AUTOMATION SETUP AND CORE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01 / DESIGN PATTERN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Cucumber BDD &amp; POM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Gherkin feature files enable business-readable test scenarios.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Page Object Model (POM) separates locator mappings (SearchBusPage.java) from step definitions to maintain code reuse.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02 / DRIVER LIFECYCLE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Selenium &amp; Java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Java provides strict typing and structure for selenium scripts.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Selenium WebDriver automates click, input, and element selection.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WebDriverManager manages browser driver binaries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03 / INFRASTRUCTURE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Environment Setup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Maven for package management and structured XML execution.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Log4j2 logging framework providing real-time stdout and logfile outputs.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TestNG runner (TestRunner.java) extending AbstractTestNGCucumberTests.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7E00"/>
                </a:solidFill>
                <a:latin typeface="Segoe UI"/>
              </a:defRPr>
            </a:pPr>
            <a:r>
              <a:t>TEST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TEST SCENARIOS AUTOMATED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01 / SEARCH CRITERIA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Bus Search Flow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Automated 'Leaving From' input selection using Mumbai.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Automated 'Going To' input selection using Pune.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Dynamic calendar interaction to select the next travel 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02 / SEARCH FILTERS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Filter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AC Bus Filter: Filters out non-AC buses.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Departure Time Filter: Validates buses departing in selected slots.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Cheapest First Filter: Sorts search results by price.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03 / ASSERIONS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Assertion &amp; Output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Verifies that bus results successfully load upon searching.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Asserts sorting order and filter elements are correctly visible in UI.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Successfully handles dynamic elements on the search results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7E00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FRAMEWORK DESIGN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01 / LIFECYCLE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Scenario Hooks (Lifecycle)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Cucumber Scenario hooks managed in ScenarioHook.java.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Before hook launches the browser driver.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After hook handles teardown and executes validation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02 / LOGGING EVIDENCE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Screenshots on Success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Captures screenshot when scenario status is PASS (successfully completed).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Saves the screenshot as a byte array and attaches it directly into Cucumber HTML/JSON reports.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Provides reliable proof of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03 / MODULARITY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Clean POM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SearchBusPage class isolates locators and automation logic.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Keeps the test definitions descriptive and reusable.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Facilitates easy modifications when UI elements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7E00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SUMMARY, OUTCOMES AND LESSONS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71830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01 / OUTCOMES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Framework Benefits &amp; Outcomes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Speed: Dynamic execution reduces manual testing overhead by 90%.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Collaboration: Feature files bridge the communication gap between business teams and engineers.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Evidence: Screenshot attachments capture actual state at success steps for report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4114800"/>
          </a:xfrm>
          <a:prstGeom prst="roundRect">
            <a:avLst>
              <a:gd name="adj" fmla="val 5000"/>
            </a:avLst>
          </a:prstGeom>
          <a:solidFill>
            <a:srgbClr val="222834"/>
          </a:solidFill>
          <a:ln w="19050">
            <a:solidFill>
              <a:srgbClr val="343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1384" y="1874520"/>
            <a:ext cx="471830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7E00"/>
                </a:solidFill>
                <a:latin typeface="Segoe UI"/>
              </a:defRPr>
            </a:pPr>
            <a:r>
              <a:t>02 / IMPROVEMENTS</a:t>
            </a:r>
          </a:p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Challenges &amp; Next Steps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Element Sync: Dynamic AJAX waits handled using Explicit Webdriver waits.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Browser Cleanup: Ensured robust browser driver closing during teardown under all scenario states.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BEC8D7"/>
                </a:solidFill>
                <a:latin typeface="Segoe UI"/>
              </a:defRPr>
            </a:pPr>
            <a:r>
              <a:t>Next Step: Integrating with CI/CD pipeline (e.g. Jenkins/GitHub Actions) for automatic nightly executions.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  <a:defRPr sz="4400" b="1">
                <a:solidFill>
                  <a:srgbClr val="00D2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FFFFFF"/>
                </a:solidFill>
                <a:latin typeface="Segoe UI"/>
              </a:defRPr>
            </a:pPr>
            <a:r>
              <a:t>Questions &amp; Collaboration Welcome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18304" y="4389120"/>
            <a:ext cx="27432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